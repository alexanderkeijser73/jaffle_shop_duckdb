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dbt in Snowflake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dbt?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dbt (Data Build Tool)</a:t>
            </a:r>
            <a:r>
              <a:rPr/>
              <a:t> is an open-source tool that enables analytics engineers to transform data in their warehouse using:</a:t>
            </a:r>
          </a:p>
          <a:p>
            <a:pPr lvl="1"/>
            <a:r>
              <a:rPr b="1"/>
              <a:t>Modularity</a:t>
            </a:r>
            <a:r>
              <a:rPr/>
              <a:t>: Write reusable SQL code</a:t>
            </a:r>
          </a:p>
          <a:p>
            <a:pPr lvl="1"/>
            <a:r>
              <a:rPr b="1"/>
              <a:t>Version Control</a:t>
            </a:r>
            <a:r>
              <a:rPr/>
              <a:t>: Track changes with Git</a:t>
            </a:r>
          </a:p>
          <a:p>
            <a:pPr lvl="1"/>
            <a:r>
              <a:rPr b="1"/>
              <a:t>Testing</a:t>
            </a:r>
            <a:r>
              <a:rPr/>
              <a:t>: Built-in data quality checks</a:t>
            </a:r>
          </a:p>
          <a:p>
            <a:pPr lvl="1"/>
            <a:r>
              <a:rPr b="1"/>
              <a:t>Documentation</a:t>
            </a:r>
            <a:r>
              <a:rPr/>
              <a:t>: Auto-generate docs for your transformations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Traditional vs dbt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dbt:</a:t>
            </a:r>
          </a:p>
          <a:p>
            <a:pPr lvl="0"/>
            <a:r>
              <a:rPr/>
              <a:t>Manual view creation in each environment: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Manually run in </a:t>
            </a:r>
            <a:r>
              <a:rPr b="1">
                <a:solidFill>
                  <a:srgbClr val="FF0000"/>
                </a:solidFill>
                <a:latin typeface="Courier"/>
              </a:rPr>
              <a:t>TEST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REPLACE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VIEW</a:t>
            </a:r>
            <a:r>
              <a:rPr>
                <a:latin typeface="Courier"/>
              </a:rPr>
              <a:t> TEST_DB.ANALYTICS.DAILY_SALES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DATE_TRUNC(</a:t>
            </a:r>
            <a:r>
              <a:rPr>
                <a:solidFill>
                  <a:srgbClr val="4070A0"/>
                </a:solidFill>
                <a:latin typeface="Courier"/>
              </a:rPr>
              <a:t>'day'</a:t>
            </a:r>
            <a:r>
              <a:rPr>
                <a:latin typeface="Courier"/>
              </a:rPr>
              <a:t>, order_date)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date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(amount)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revenue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raw_orders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Later manually run in ACCEPTANCE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REPLACE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VIEW</a:t>
            </a:r>
            <a:r>
              <a:rPr>
                <a:latin typeface="Courier"/>
              </a:rPr>
              <a:t> ACCEPT_DB.ANALYTICS.DAILY_SALES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</a:t>
            </a:r>
            <a:r>
              <a:rPr>
                <a:latin typeface="Courier"/>
              </a:rPr>
              <a:t>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Finally manually run in PRODUCTION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REPLACE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VIEW</a:t>
            </a:r>
            <a:r>
              <a:rPr>
                <a:latin typeface="Courier"/>
              </a:rPr>
              <a:t> PROD_DB.ANALYTICS.DAILY_SALES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</a:t>
            </a:r>
            <a:r>
              <a:rPr>
                <a:latin typeface="Courier"/>
              </a:rPr>
              <a:t>.</a:t>
            </a:r>
          </a:p>
          <a:p>
            <a:pPr lvl="0"/>
            <a:r>
              <a:rPr/>
              <a:t>😟 Problems:</a:t>
            </a:r>
          </a:p>
          <a:p>
            <a:pPr lvl="1"/>
            <a:r>
              <a:rPr/>
              <a:t>No version control</a:t>
            </a:r>
          </a:p>
          <a:p>
            <a:pPr lvl="1"/>
            <a:r>
              <a:rPr/>
              <a:t>Manual deployments prone to errors</a:t>
            </a:r>
          </a:p>
          <a:p>
            <a:pPr lvl="1"/>
            <a:r>
              <a:rPr/>
              <a:t>No documentation of business logic</a:t>
            </a:r>
          </a:p>
          <a:p>
            <a:pPr lvl="1"/>
            <a:r>
              <a:rPr/>
              <a:t>Environments can get out of sync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With dbt:</a:t>
            </a:r>
          </a:p>
          <a:p>
            <a:pPr lvl="0"/>
            <a:r>
              <a:rPr/>
              <a:t>Version controlled models: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models/marts/daily_sales.sql</a:t>
            </a:r>
            <a:br/>
            <a:r>
              <a:rPr>
                <a:latin typeface="Courier"/>
              </a:rPr>
              <a:t>{{ config(</a:t>
            </a:r>
            <a:r>
              <a:rPr b="1">
                <a:solidFill>
                  <a:srgbClr val="007020"/>
                </a:solidFill>
                <a:latin typeface="Courier"/>
              </a:rPr>
              <a:t>materialized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'view'</a:t>
            </a:r>
            <a:r>
              <a:rPr>
                <a:latin typeface="Courier"/>
              </a:rPr>
              <a:t>) }}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DATE_TRUNC(</a:t>
            </a:r>
            <a:r>
              <a:rPr>
                <a:solidFill>
                  <a:srgbClr val="4070A0"/>
                </a:solidFill>
                <a:latin typeface="Courier"/>
              </a:rPr>
              <a:t>'day'</a:t>
            </a:r>
            <a:r>
              <a:rPr>
                <a:latin typeface="Courier"/>
              </a:rPr>
              <a:t>, order_date)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date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(amount)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revenue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{{ </a:t>
            </a:r>
            <a:r>
              <a:rPr>
                <a:solidFill>
                  <a:srgbClr val="06287E"/>
                </a:solidFill>
                <a:latin typeface="Courier"/>
              </a:rPr>
              <a:t>ref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'stg_orders'</a:t>
            </a:r>
            <a:r>
              <a:rPr>
                <a:latin typeface="Courier"/>
              </a:rPr>
              <a:t>) }}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  <a:p>
            <a:pPr lvl="0"/>
            <a:r>
              <a:rPr/>
              <a:t>😊 Benefits:</a:t>
            </a:r>
          </a:p>
          <a:p>
            <a:pPr lvl="1"/>
            <a:r>
              <a:rPr/>
              <a:t>One source of truth</a:t>
            </a:r>
          </a:p>
          <a:p>
            <a:pPr lvl="1"/>
            <a:r>
              <a:rPr/>
              <a:t>Automated deployments: </a:t>
            </a:r>
            <a:r>
              <a:rPr>
                <a:latin typeface="Courier"/>
              </a:rPr>
              <a:t>dbt run --target prod</a:t>
            </a:r>
          </a:p>
          <a:p>
            <a:pPr lvl="1"/>
            <a:r>
              <a:rPr/>
              <a:t>Built-in testing: </a:t>
            </a:r>
            <a:r>
              <a:rPr>
                <a:latin typeface="Courier"/>
              </a:rPr>
              <a:t>dbt test</a:t>
            </a:r>
          </a:p>
          <a:p>
            <a:pPr lvl="1"/>
            <a:r>
              <a:rPr/>
              <a:t>Documentation included</a:t>
            </a:r>
          </a:p>
          <a:p>
            <a:pPr lvl="1"/>
            <a:r>
              <a:rPr/>
              <a:t>Easy rollback with Git</a:t>
            </a:r>
          </a:p>
          <a:p>
            <a:pPr lvl="1"/>
            <a:r>
              <a:rPr/>
              <a:t>Consistent across environments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dbt and Snowflake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Snowflake</a:t>
            </a:r>
            <a:r>
              <a:rPr/>
              <a:t>: A cloud-based data warehousing solution.</a:t>
            </a:r>
          </a:p>
          <a:p>
            <a:pPr lvl="0"/>
            <a:r>
              <a:rPr/>
              <a:t>dbt integrates seamlessly with Snowflake to transform data within the Snowflake environment.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Setting Up dbt with Snowflake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Install dbt</a:t>
            </a:r>
            <a:r>
              <a:rPr/>
              <a:t>: Use pip to install dbt core and Snowflake adapter.</a:t>
            </a:r>
          </a:p>
          <a:p>
            <a:pPr lvl="1" indent="0">
              <a:buNone/>
            </a:pPr>
            <a:r>
              <a:rPr>
                <a:latin typeface="Courier"/>
              </a:rPr>
              <a:t>pip install dbt-core dbt-snowflake</a:t>
            </a:r>
          </a:p>
          <a:p>
            <a:pPr lvl="0" indent="-342900" marL="342900">
              <a:buAutoNum type="arabicPeriod"/>
            </a:pPr>
            <a:r>
              <a:rPr b="1"/>
              <a:t>Create a dbt Project</a:t>
            </a:r>
            <a:r>
              <a:rPr/>
              <a:t>: Initialize a new dbt project.</a:t>
            </a:r>
          </a:p>
          <a:p>
            <a:pPr lvl="1" indent="0">
              <a:buNone/>
            </a:pPr>
            <a:r>
              <a:rPr>
                <a:latin typeface="Courier"/>
              </a:rPr>
              <a:t>dbt init my_project</a:t>
            </a:r>
          </a:p>
          <a:p>
            <a:pPr lvl="0" indent="-342900" marL="342900">
              <a:buAutoNum type="arabicPeriod"/>
            </a:pPr>
            <a:r>
              <a:rPr b="1"/>
              <a:t>Configure Connection</a:t>
            </a:r>
            <a:r>
              <a:rPr/>
              <a:t>: Update the </a:t>
            </a:r>
            <a:r>
              <a:rPr>
                <a:latin typeface="Courier"/>
              </a:rPr>
              <a:t>profiles.yml</a:t>
            </a:r>
            <a:r>
              <a:rPr/>
              <a:t> file with Snowflake connection details.</a:t>
            </a:r>
          </a:p>
          <a:p>
            <a:pPr lvl="1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my_project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target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dev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outputs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</a:t>
            </a:r>
            <a:r>
              <a:rPr>
                <a:solidFill>
                  <a:srgbClr val="06287E"/>
                </a:solidFill>
                <a:latin typeface="Courier"/>
              </a:rPr>
              <a:t>dev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snowflake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account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your_account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user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your_username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password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your_password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role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your_role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database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your_database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warehouse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your_warehouse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schema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your_schema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dbt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my_project/</a:t>
            </a:r>
            <a:br/>
            <a:r>
              <a:rPr>
                <a:latin typeface="Courier"/>
              </a:rPr>
              <a:t>├── models/</a:t>
            </a:r>
            <a:br/>
            <a:r>
              <a:rPr>
                <a:latin typeface="Courier"/>
              </a:rPr>
              <a:t>│   ├── staging/          </a:t>
            </a:r>
            <a:r>
              <a:rPr i="1">
                <a:solidFill>
                  <a:srgbClr val="60A0B0"/>
                </a:solidFill>
                <a:latin typeface="Courier"/>
              </a:rPr>
              <a:t># Initial transformations</a:t>
            </a:r>
            <a:br/>
            <a:r>
              <a:rPr>
                <a:latin typeface="Courier"/>
              </a:rPr>
              <a:t>│   │   ├── stg_orders.sql</a:t>
            </a:r>
            <a:br/>
            <a:r>
              <a:rPr>
                <a:latin typeface="Courier"/>
              </a:rPr>
              <a:t>│   │   └── schema.yml    </a:t>
            </a:r>
            <a:r>
              <a:rPr i="1">
                <a:solidFill>
                  <a:srgbClr val="60A0B0"/>
                </a:solidFill>
                <a:latin typeface="Courier"/>
              </a:rPr>
              <a:t># Column definitions &amp; tests</a:t>
            </a:r>
            <a:br/>
            <a:r>
              <a:rPr>
                <a:latin typeface="Courier"/>
              </a:rPr>
              <a:t>│   └── marts/            </a:t>
            </a:r>
            <a:r>
              <a:rPr i="1">
                <a:solidFill>
                  <a:srgbClr val="60A0B0"/>
                </a:solidFill>
                <a:latin typeface="Courier"/>
              </a:rPr>
              <a:t># Business-level models</a:t>
            </a:r>
            <a:br/>
            <a:r>
              <a:rPr>
                <a:latin typeface="Courier"/>
              </a:rPr>
              <a:t>├── tests/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Custom data tests</a:t>
            </a:r>
            <a:br/>
            <a:r>
              <a:rPr>
                <a:latin typeface="Courier"/>
              </a:rPr>
              <a:t>├── macros/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Reusable SQL functions</a:t>
            </a:r>
            <a:br/>
            <a:r>
              <a:rPr>
                <a:latin typeface="Courier"/>
              </a:rPr>
              <a:t>├── seeds/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Static CSV files</a:t>
            </a:r>
            <a:br/>
            <a:r>
              <a:rPr>
                <a:latin typeface="Courier"/>
              </a:rPr>
              <a:t>└── dbt_project.yml      </a:t>
            </a:r>
            <a:r>
              <a:rPr i="1">
                <a:solidFill>
                  <a:srgbClr val="60A0B0"/>
                </a:solidFill>
                <a:latin typeface="Courier"/>
              </a:rPr>
              <a:t># Project configuration</a:t>
            </a:r>
          </a:p>
          <a:p>
            <a:pPr lvl="0"/>
            <a:r>
              <a:rPr b="1"/>
              <a:t>SQL Files</a:t>
            </a:r>
            <a:r>
              <a:rPr/>
              <a:t>: Transform data</a:t>
            </a:r>
          </a:p>
          <a:p>
            <a:pPr lvl="0"/>
            <a:r>
              <a:rPr b="1"/>
              <a:t>YAML Files</a:t>
            </a:r>
            <a:r>
              <a:rPr/>
              <a:t>: Define metadata &amp; tests</a:t>
            </a:r>
          </a:p>
          <a:p>
            <a:pPr lvl="0"/>
            <a:r>
              <a:rPr b="1"/>
              <a:t>Macros</a:t>
            </a:r>
            <a:r>
              <a:rPr/>
              <a:t>: Reusable SQL functions</a:t>
            </a:r>
          </a:p>
          <a:p>
            <a:pPr lvl="0"/>
            <a:r>
              <a:rPr b="1"/>
              <a:t>Seeds</a:t>
            </a:r>
            <a:r>
              <a:rPr/>
              <a:t>: Static reference data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with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Sources</a:t>
            </a:r>
            <a:r>
              <a:rPr/>
              <a:t>: Define your raw data tables in YAML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models/staging/sources.yml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version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sources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raw_data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database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RAW_DB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schema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PUBLIC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tables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orders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description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"Raw orders from our ERP system"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columns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order_id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   </a:t>
            </a:r>
            <a:r>
              <a:rPr>
                <a:solidFill>
                  <a:srgbClr val="06287E"/>
                </a:solidFill>
                <a:latin typeface="Courier"/>
              </a:rPr>
              <a:t>tests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unique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not_null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freshness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 </a:t>
            </a:r>
            <a:r>
              <a:rPr>
                <a:solidFill>
                  <a:srgbClr val="06287E"/>
                </a:solidFill>
                <a:latin typeface="Courier"/>
              </a:rPr>
              <a:t>warn_after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period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hour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 </a:t>
            </a:r>
            <a:r>
              <a:rPr>
                <a:solidFill>
                  <a:srgbClr val="06287E"/>
                </a:solidFill>
                <a:latin typeface="Courier"/>
              </a:rPr>
              <a:t>error_after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period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hour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</a:p>
          <a:p>
            <a:pPr lvl="0"/>
            <a:r>
              <a:rPr b="1"/>
              <a:t>Reference Sources in Models</a:t>
            </a:r>
            <a:r>
              <a:rPr/>
              <a:t>: Use the </a:t>
            </a:r>
            <a:r>
              <a:rPr>
                <a:latin typeface="Courier"/>
              </a:rPr>
              <a:t>source()</a:t>
            </a:r>
            <a:r>
              <a:rPr/>
              <a:t> function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models/staging/stg_orders.sql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br/>
            <a:r>
              <a:rPr>
                <a:latin typeface="Courier"/>
              </a:rPr>
              <a:t>    order_id,</a:t>
            </a:r>
            <a:br/>
            <a:r>
              <a:rPr>
                <a:latin typeface="Courier"/>
              </a:rPr>
              <a:t>    customer_name,</a:t>
            </a:r>
            <a:br/>
            <a:r>
              <a:rPr>
                <a:latin typeface="Courier"/>
              </a:rPr>
              <a:t>    order_date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{{ </a:t>
            </a:r>
            <a:r>
              <a:rPr b="1">
                <a:solidFill>
                  <a:srgbClr val="007020"/>
                </a:solidFill>
                <a:latin typeface="Courier"/>
              </a:rPr>
              <a:t>source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'raw_data'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'orders'</a:t>
            </a:r>
            <a:r>
              <a:rPr>
                <a:latin typeface="Courier"/>
              </a:rPr>
              <a:t>) }}</a:t>
            </a:r>
          </a:p>
          <a:p>
            <a:pPr lvl="0"/>
            <a:r>
              <a:rPr b="1"/>
              <a:t>Benefits</a:t>
            </a:r>
            <a:r>
              <a:rPr/>
              <a:t>:</a:t>
            </a:r>
          </a:p>
          <a:p>
            <a:pPr lvl="1"/>
            <a:r>
              <a:rPr/>
              <a:t>Document source data locations</a:t>
            </a:r>
          </a:p>
          <a:p>
            <a:pPr lvl="1"/>
            <a:r>
              <a:rPr/>
              <a:t>Test data freshness: </a:t>
            </a:r>
            <a:r>
              <a:rPr>
                <a:latin typeface="Courier"/>
              </a:rPr>
              <a:t>dbt source freshness</a:t>
            </a:r>
          </a:p>
          <a:p>
            <a:pPr lvl="1"/>
            <a:r>
              <a:rPr/>
              <a:t>Easy to change source locations</a:t>
            </a:r>
          </a:p>
          <a:p>
            <a:pPr lvl="1"/>
            <a:r>
              <a:rPr/>
              <a:t>Track data lineage from source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Writing dbt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Models</a:t>
            </a:r>
            <a:r>
              <a:rPr/>
              <a:t>: SQL files that define transformations.</a:t>
            </a:r>
          </a:p>
          <a:p>
            <a:pPr lvl="0"/>
            <a:r>
              <a:rPr/>
              <a:t>Place SQL files in the </a:t>
            </a:r>
            <a:r>
              <a:rPr>
                <a:latin typeface="Courier"/>
              </a:rPr>
              <a:t>models</a:t>
            </a:r>
            <a:r>
              <a:rPr/>
              <a:t> directory.</a:t>
            </a:r>
          </a:p>
          <a:p>
            <a:pPr lvl="0"/>
            <a:r>
              <a:rPr/>
              <a:t>Example model (</a:t>
            </a:r>
            <a:r>
              <a:rPr>
                <a:latin typeface="Courier"/>
              </a:rPr>
              <a:t>models/my_model.sql</a:t>
            </a:r>
            <a:r>
              <a:rPr/>
              <a:t>):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{{ </a:t>
            </a:r>
            <a:r>
              <a:rPr>
                <a:solidFill>
                  <a:srgbClr val="06287E"/>
                </a:solidFill>
                <a:latin typeface="Courier"/>
              </a:rPr>
              <a:t>ref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'raw_data'</a:t>
            </a:r>
            <a:r>
              <a:rPr>
                <a:latin typeface="Courier"/>
              </a:rPr>
              <a:t>) }}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status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'active'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dbt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Run Models</a:t>
            </a:r>
            <a:r>
              <a:rPr/>
              <a:t>: Execute transformations defined in your models.</a:t>
            </a:r>
          </a:p>
          <a:p>
            <a:pPr lvl="1" indent="0">
              <a:buNone/>
            </a:pPr>
            <a:r>
              <a:rPr>
                <a:latin typeface="Courier"/>
              </a:rPr>
              <a:t>dbt run</a:t>
            </a:r>
          </a:p>
          <a:p>
            <a:pPr lvl="0"/>
            <a:r>
              <a:rPr/>
              <a:t>Under the hood, dbt generates and executes SQL like this: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REPLACE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"DATABASE"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7020"/>
                </a:solidFill>
                <a:latin typeface="Courier"/>
              </a:rPr>
              <a:t>"SCHEMA"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7020"/>
                </a:solidFill>
                <a:latin typeface="Courier"/>
              </a:rPr>
              <a:t>"MY_MODEL"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"DATABASE"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7020"/>
                </a:solidFill>
                <a:latin typeface="Courier"/>
              </a:rPr>
              <a:t>"SCHEMA"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7020"/>
                </a:solidFill>
                <a:latin typeface="Courier"/>
              </a:rPr>
              <a:t>"RAW_DATA"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status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'active'</a:t>
            </a:r>
            <a:br/>
            <a:r>
              <a:rPr>
                <a:latin typeface="Courier"/>
              </a:rPr>
              <a:t>);</a:t>
            </a:r>
          </a:p>
          <a:p>
            <a:pPr lvl="0"/>
            <a:r>
              <a:rPr b="1"/>
              <a:t>Test Models</a:t>
            </a:r>
            <a:r>
              <a:rPr/>
              <a:t>: Run tests to ensure data quality.</a:t>
            </a:r>
          </a:p>
          <a:p>
            <a:pPr lvl="1" indent="0">
              <a:buNone/>
            </a:pPr>
            <a:r>
              <a:rPr>
                <a:latin typeface="Courier"/>
              </a:rPr>
              <a:t>dbt test</a:t>
            </a:r>
          </a:p>
          <a:p>
            <a:pPr lvl="0"/>
            <a:r>
              <a:rPr/>
              <a:t>Under the hood, a not_null test in your schema.yml:</a:t>
            </a:r>
          </a:p>
          <a:p>
            <a:pPr lvl="1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models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my_model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columns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id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tests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not_null</a:t>
            </a:r>
          </a:p>
          <a:p>
            <a:pPr lvl="1" indent="0" marL="342900">
              <a:buNone/>
            </a:pPr>
            <a:r>
              <a:rPr/>
              <a:t>Generates and runs SQL like this: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"DATABASE"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7020"/>
                </a:solidFill>
                <a:latin typeface="Courier"/>
              </a:rPr>
              <a:t>"SCHEMA"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7020"/>
                </a:solidFill>
                <a:latin typeface="Courier"/>
              </a:rPr>
              <a:t>"MY_MODEL"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Generate Docs</a:t>
            </a:r>
            <a:r>
              <a:rPr/>
              <a:t>: Create documentation for your models.</a:t>
            </a:r>
          </a:p>
          <a:p>
            <a:pPr lvl="1" indent="0">
              <a:buNone/>
            </a:pPr>
            <a:r>
              <a:rPr>
                <a:latin typeface="Courier"/>
              </a:rPr>
              <a:t>dbt docs generate</a:t>
            </a:r>
          </a:p>
          <a:p>
            <a:pPr lvl="0"/>
            <a:r>
              <a:rPr b="1"/>
              <a:t>Serve Docs</a:t>
            </a:r>
            <a:r>
              <a:rPr/>
              <a:t>: View the documentation in a web browser.</a:t>
            </a:r>
          </a:p>
          <a:p>
            <a:pPr lvl="1" indent="0">
              <a:buNone/>
            </a:pPr>
            <a:r>
              <a:rPr>
                <a:latin typeface="Courier"/>
              </a:rPr>
              <a:t>dbt docs serve</a:t>
            </a:r>
          </a:p>
          <a:p>
            <a:pPr lvl="0"/>
            <a:r>
              <a:rPr b="1"/>
              <a:t>Model Lineage</a:t>
            </a:r>
            <a:r>
              <a:rPr/>
              <a:t>: Using </a:t>
            </a:r>
            <a:r>
              <a:rPr>
                <a:latin typeface="Courier"/>
              </a:rPr>
              <a:t>ref()</a:t>
            </a:r>
            <a:r>
              <a:rPr/>
              <a:t> allows dbt to automatically generate a DAG (Directed Acyclic Graph) of your data transformations:</a:t>
            </a: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models/staging/stg_orders.sql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{{ </a:t>
            </a:r>
            <a:r>
              <a:rPr>
                <a:solidFill>
                  <a:srgbClr val="06287E"/>
                </a:solidFill>
                <a:latin typeface="Courier"/>
              </a:rPr>
              <a:t>ref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'raw_orders'</a:t>
            </a:r>
            <a:r>
              <a:rPr>
                <a:latin typeface="Courier"/>
              </a:rPr>
              <a:t>) }}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models/marts/daily_orders.sql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date_trunc(</a:t>
            </a:r>
            <a:r>
              <a:rPr>
                <a:solidFill>
                  <a:srgbClr val="4070A0"/>
                </a:solidFill>
                <a:latin typeface="Courier"/>
              </a:rPr>
              <a:t>'day'</a:t>
            </a:r>
            <a:r>
              <a:rPr>
                <a:latin typeface="Courier"/>
              </a:rPr>
              <a:t>, order_date)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order_day,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(amount)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daily_amount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{{ </a:t>
            </a:r>
            <a:r>
              <a:rPr>
                <a:solidFill>
                  <a:srgbClr val="06287E"/>
                </a:solidFill>
                <a:latin typeface="Courier"/>
              </a:rPr>
              <a:t>ref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'stg_orders'</a:t>
            </a:r>
            <a:r>
              <a:rPr>
                <a:latin typeface="Courier"/>
              </a:rPr>
              <a:t>) }}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  <a:p>
            <a:pPr lvl="0"/>
            <a:r>
              <a:rPr/>
              <a:t>This creates a visualization of your data flow: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dbt simplifies data transformation workflows.</a:t>
            </a:r>
          </a:p>
          <a:p>
            <a:pPr lvl="0"/>
            <a:r>
              <a:rPr/>
              <a:t>Seamless integration with Snowflake.</a:t>
            </a:r>
          </a:p>
          <a:p>
            <a:pPr lvl="0"/>
            <a:r>
              <a:rPr/>
              <a:t>Enhances collaboration, testing, and documentation.</a:t>
            </a:r>
          </a:p>
          <a:p>
            <a:pPr lvl="0" indent="0" marL="0">
              <a:buNone/>
            </a:pPr>
            <a:r>
              <a:rPr/>
              <a:t>Thank you!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dbt in Snowflake</dc:title>
  <dc:creator/>
  <cp:keywords/>
  <dcterms:created xsi:type="dcterms:W3CDTF">2025-03-27T14:26:58Z</dcterms:created>
  <dcterms:modified xsi:type="dcterms:W3CDTF">2025-03-27T14:26:58Z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